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Nunito Semi Bold" panose="020B0604020202020204" charset="0"/>
      <p:regular r:id="rId17"/>
    </p:embeddedFont>
    <p:embeddedFont>
      <p:font typeface="PT Sans" panose="020B0503020203020204" pitchFamily="34" charset="0"/>
      <p:regular r:id="rId18"/>
    </p:embeddedFont>
    <p:embeddedFont>
      <p:font typeface="PT Sans Bold" panose="020B0703020203020204" pitchFamily="34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4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mailto:rakhichakrabarty8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69582"/>
            <a:ext cx="7468553" cy="245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Stock Market Analysis of Top    Tech Companies</a:t>
            </a:r>
            <a:b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</a:b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         </a:t>
            </a:r>
            <a:r>
              <a:rPr lang="en-US" sz="2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UNIFIED MENTOR PROJECT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37724" y="4957092"/>
            <a:ext cx="7468553" cy="11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Prepared by: Rakhi Chakrabarty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</a:rPr>
              <a:t>Email ID – 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hlinkClick r:id="rId4"/>
              </a:rPr>
              <a:t>rakhichakrabarty8@gmail.com</a:t>
            </a:r>
            <a:br>
              <a:rPr lang="en-US" sz="1850" dirty="0">
                <a:solidFill>
                  <a:srgbClr val="00002E"/>
                </a:solidFill>
                <a:latin typeface="PT Sans" pitchFamily="34" charset="0"/>
              </a:rPr>
            </a:br>
            <a:endParaRPr lang="en-US" sz="1850" dirty="0">
              <a:solidFill>
                <a:srgbClr val="00002E"/>
              </a:solidFill>
              <a:latin typeface="PT Sans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1850" dirty="0">
              <a:solidFill>
                <a:srgbClr val="00002E"/>
              </a:solidFill>
              <a:latin typeface="PT Sans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742877"/>
            <a:ext cx="7468553" cy="57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Date: April 2025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37724" y="5458897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44" y="6244682"/>
            <a:ext cx="367665" cy="468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0287" y="6244682"/>
            <a:ext cx="2696885" cy="57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by Rakhi Chakrabarty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9392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1956911"/>
            <a:ext cx="7468553" cy="1402913"/>
          </a:xfrm>
          <a:prstGeom prst="roundRect">
            <a:avLst>
              <a:gd name="adj" fmla="val 2559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6299" y="22190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6299" y="2714625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Analyze trends, volatility, volume and pricing patterns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24124" y="3599140"/>
            <a:ext cx="7468553" cy="3736538"/>
          </a:xfrm>
          <a:prstGeom prst="roundRect">
            <a:avLst>
              <a:gd name="adj" fmla="val 9610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6299" y="38613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Metrics Covered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6299" y="4356854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Closing Price Trends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586299" y="4823579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Trading Volume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586299" y="5290304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7-Day Moving Averages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86299" y="5757029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Daily Return % (Volatility)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586299" y="6223754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Company Price Comparisons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586299" y="6690479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KPIs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15472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Stock Price Trend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79890"/>
            <a:ext cx="6584394" cy="3805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624339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MSFT &amp; AAPL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37724" y="6775609"/>
            <a:ext cx="3967401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Steady upward trend, long-term strength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338286" y="624339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NFLX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338286" y="6775609"/>
            <a:ext cx="3967401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price fluctuations, volatile sentiment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838849" y="624339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GOOG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838849" y="6775609"/>
            <a:ext cx="3967401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Stable but lower pricing range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02" y="580311"/>
            <a:ext cx="9103757" cy="52620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402" y="6094809"/>
            <a:ext cx="5106114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Trading Volume Comparison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36402" y="7031474"/>
            <a:ext cx="378619" cy="378619"/>
          </a:xfrm>
          <a:prstGeom prst="roundRect">
            <a:avLst>
              <a:gd name="adj" fmla="val 66687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83256" y="7031474"/>
            <a:ext cx="198024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AAPL Dominance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283256" y="7379851"/>
            <a:ext cx="372689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Highest and consistent trading volume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78385" y="7031474"/>
            <a:ext cx="378619" cy="378619"/>
          </a:xfrm>
          <a:prstGeom prst="roundRect">
            <a:avLst>
              <a:gd name="adj" fmla="val 66687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25239" y="7031474"/>
            <a:ext cx="198024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NFLX Volume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725239" y="7379851"/>
            <a:ext cx="372689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Lowest liquidity and investor interest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20369" y="7031474"/>
            <a:ext cx="378619" cy="378619"/>
          </a:xfrm>
          <a:prstGeom prst="roundRect">
            <a:avLst>
              <a:gd name="adj" fmla="val 66687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67223" y="7031474"/>
            <a:ext cx="198024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Business Insight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167223" y="7379851"/>
            <a:ext cx="372689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volume enables easy trade entry/exit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40" y="604599"/>
            <a:ext cx="5686068" cy="3286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9330" y="569476"/>
            <a:ext cx="421243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6140" y="4300776"/>
            <a:ext cx="4411861" cy="458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Moving Averages Analysis</a:t>
            </a:r>
            <a:endParaRPr lang="en-US" sz="2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40" y="4993838"/>
            <a:ext cx="780217" cy="9363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0433" y="5149810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NFLX Rebound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560433" y="5472827"/>
            <a:ext cx="1252382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Strong surge mid-April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40" y="5930146"/>
            <a:ext cx="780217" cy="9363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60433" y="6086118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AAPL &amp; MSFT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560433" y="6409134"/>
            <a:ext cx="1252382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Smooth rising averages reflect confidence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40" y="6866453"/>
            <a:ext cx="780217" cy="9363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60433" y="7022425"/>
            <a:ext cx="1835825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GOOG Flat Line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560433" y="7345442"/>
            <a:ext cx="1252382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Market neutrality, stagnation sign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38" y="598884"/>
            <a:ext cx="8834795" cy="51065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238" y="5950387"/>
            <a:ext cx="6366153" cy="480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Volatility Overview (Daily Return %)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62238" y="6675715"/>
            <a:ext cx="4259818" cy="956429"/>
          </a:xfrm>
          <a:prstGeom prst="roundRect">
            <a:avLst>
              <a:gd name="adj" fmla="val 25619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0713" y="6854190"/>
            <a:ext cx="1921669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NFLX &amp; GOOG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40713" y="7192328"/>
            <a:ext cx="390286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volatility up to ±9%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85291" y="6675715"/>
            <a:ext cx="4259818" cy="956429"/>
          </a:xfrm>
          <a:prstGeom prst="roundRect">
            <a:avLst>
              <a:gd name="adj" fmla="val 25619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63766" y="6854190"/>
            <a:ext cx="1921669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MSFT Stability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63766" y="7192328"/>
            <a:ext cx="390286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Lower swings, safer investment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8344" y="6675715"/>
            <a:ext cx="4259818" cy="956429"/>
          </a:xfrm>
          <a:prstGeom prst="roundRect">
            <a:avLst>
              <a:gd name="adj" fmla="val 25619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6818" y="6854190"/>
            <a:ext cx="1921669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Investor Strategy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786818" y="7192328"/>
            <a:ext cx="390286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Volatile stocks for short-term traders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4969"/>
            <a:ext cx="6336744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Company Price Comparison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769388"/>
            <a:ext cx="6907530" cy="3882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610945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AAPL Pricing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37724" y="6641663"/>
            <a:ext cx="3967401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Consistently trades much higher than GOOG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338286" y="610945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GOOG Trend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338286" y="6641663"/>
            <a:ext cx="3967401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Similar direction, lower price range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838849" y="610945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Use Case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838849" y="6641663"/>
            <a:ext cx="3967401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portfolio diversification decisions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693" y="613410"/>
            <a:ext cx="3411498" cy="426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KPI Summary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80693" y="1329571"/>
            <a:ext cx="7582614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7.95B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3719155" y="1989058"/>
            <a:ext cx="1705689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Total Volume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0693" y="2289215"/>
            <a:ext cx="758261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Billion shares traded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0693" y="3028474"/>
            <a:ext cx="7582614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018CE1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215.4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3719155" y="3687961"/>
            <a:ext cx="1705689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Avg Closing Price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0693" y="3988117"/>
            <a:ext cx="758261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Across all companies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0693" y="4727377"/>
            <a:ext cx="7582614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DA33B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54044</a:t>
            </a:r>
            <a:endParaRPr lang="en-US" sz="3750" dirty="0"/>
          </a:p>
        </p:txBody>
      </p:sp>
      <p:sp>
        <p:nvSpPr>
          <p:cNvPr id="11" name="Text 8"/>
          <p:cNvSpPr/>
          <p:nvPr/>
        </p:nvSpPr>
        <p:spPr>
          <a:xfrm>
            <a:off x="3719155" y="5386864"/>
            <a:ext cx="1705689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Highest Price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0693" y="5687020"/>
            <a:ext cx="758261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Peak trade value recorded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0693" y="6426279"/>
            <a:ext cx="7582614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52749</a:t>
            </a:r>
            <a:endParaRPr lang="en-US" sz="3750" dirty="0"/>
          </a:p>
        </p:txBody>
      </p:sp>
      <p:sp>
        <p:nvSpPr>
          <p:cNvPr id="14" name="Text 11"/>
          <p:cNvSpPr/>
          <p:nvPr/>
        </p:nvSpPr>
        <p:spPr>
          <a:xfrm>
            <a:off x="3719155" y="7085767"/>
            <a:ext cx="1705689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Lowest Price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0693" y="7385923"/>
            <a:ext cx="7582614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Minimum value observed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44882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10540"/>
            <a:ext cx="9144000" cy="3467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5635943"/>
            <a:ext cx="68340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Final Dashboard Overview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837724" y="669893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Combines price trends, volume, volatility, and moving averages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32861"/>
            <a:ext cx="66329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Insights &amp; Takeaways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265051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4374" y="3323034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101959" y="32650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 Dashboard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01959" y="3760589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Enables simplifying comparison and spotting trends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3265051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8308" y="3323034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55893" y="32650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Investment Decisions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55893" y="3760589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Improved by combining multiple data points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24124" y="5418177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4374" y="5476161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101959" y="54181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Real-time Visibility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01959" y="5913715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timely entry and exit points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27396"/>
            <a:ext cx="58581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Business Observations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1016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623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Observations: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</a:t>
            </a: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AAPL and MSFT are consistent, stable performers with high volume and low volatility.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1668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•NFLX is aggressive and risky, showing both large growth potential and sharp dips.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81906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•GOOG is relatively flat, stable but with low liquidity.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969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Recommendations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3246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•Use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AAPL and MSFT for long-term portfolios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18469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 Deploy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NFLX for tactical, high-reward positions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with tight risk control.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3691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 Use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volatility and volume insights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for timing decisions.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489138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•</a:t>
            </a:r>
            <a:r>
              <a:rPr lang="en-US" sz="18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📉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Consider moving averages for </a:t>
            </a: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trend validation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before entering trades.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81428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9704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649272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Tableau-powered analysis provides a clear, interactive way to understand tech stock behavior. It enables smarter, faster investment decisions through visual trends, KPIs, and real-time comparison.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762732"/>
            <a:ext cx="85140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                        ………Thank You…….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416</Words>
  <Application>Microsoft Office PowerPoint</Application>
  <PresentationFormat>Custom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Nunito Semi Bold</vt:lpstr>
      <vt:lpstr>PT Sans</vt:lpstr>
      <vt:lpstr>PT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Rakhi Chakrabarty</cp:lastModifiedBy>
  <cp:revision>2</cp:revision>
  <dcterms:created xsi:type="dcterms:W3CDTF">2025-04-22T20:13:38Z</dcterms:created>
  <dcterms:modified xsi:type="dcterms:W3CDTF">2025-04-23T03:43:40Z</dcterms:modified>
</cp:coreProperties>
</file>